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65" r:id="rId4"/>
    <p:sldId id="266" r:id="rId5"/>
    <p:sldId id="271" r:id="rId6"/>
    <p:sldId id="270" r:id="rId7"/>
    <p:sldId id="268" r:id="rId8"/>
    <p:sldId id="269" r:id="rId9"/>
    <p:sldId id="267" r:id="rId10"/>
    <p:sldId id="272" r:id="rId11"/>
    <p:sldId id="273" r:id="rId12"/>
    <p:sldId id="274" r:id="rId13"/>
    <p:sldId id="275" r:id="rId14"/>
    <p:sldId id="276" r:id="rId15"/>
    <p:sldId id="278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AC4C8C-90CB-4A29-A5CB-7EF24EA534ED}">
          <p14:sldIdLst>
            <p14:sldId id="256"/>
            <p14:sldId id="264"/>
            <p14:sldId id="265"/>
          </p14:sldIdLst>
        </p14:section>
        <p14:section name="Untitled Section" id="{DEB8D443-E67D-4DF0-AFC0-B2F41097A3AE}">
          <p14:sldIdLst>
            <p14:sldId id="266"/>
            <p14:sldId id="271"/>
            <p14:sldId id="270"/>
            <p14:sldId id="268"/>
            <p14:sldId id="269"/>
            <p14:sldId id="267"/>
            <p14:sldId id="272"/>
            <p14:sldId id="273"/>
            <p14:sldId id="274"/>
            <p14:sldId id="275"/>
            <p14:sldId id="276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771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AFD8C-6138-46BC-9F64-AAA85255CB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C3055-8418-48C0-9B1A-B71108473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91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4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275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08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57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41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E56D-7708-D918-D312-10AF27A3D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D161B-3DA5-12B3-EA7F-87827E138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9A8BD-5FD9-E3F9-8E0A-16B6C68F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EFF0F-5193-7BB9-2F4C-290E0328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B6D1B-3EF3-21EA-F30A-C4D55CF0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27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CBA3-A160-624D-04EA-8A1E02B2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9B00-675F-5EB2-5EFA-74C0F56F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242E-88ED-4FAD-9DC6-5EA082E6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8DEC-B716-57B2-0915-FDD8BEB6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5232-C237-5506-FD8B-7ED2A88D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6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73EDE-3F5A-77BC-6FA0-02D71736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A34BA-0475-A19E-55D6-0411E52FC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36CDA-F6DE-C04D-FA2D-88C916B5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00A25-6EF8-6FEA-B320-ADF8DEF2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98D2A-9AC8-0774-B253-A72DAC35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50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58B8-0963-689A-0D48-435CF03B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C55D-C2C5-EBC0-1F07-C3418A8BD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C33FF-E133-121E-1F8F-2A851209C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7FDF5-F955-2033-28C0-397129EE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B797D-C7C4-266A-B36F-738C27C3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42D8F-34AB-D6C9-B138-2E3855F9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6005-6D8C-6C41-DF0A-3C8E3580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045B7-F5C4-FB48-2C0A-22B6E157A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B921-7177-DE87-08DE-75191E54C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04E8-EC79-1BCA-347F-6C09F52D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06E1D-FE3D-F475-8FCD-BE75BFEB5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5C147-273E-6C86-CB9D-C5A6C25E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19D84F-8D68-EB66-22A6-8FBD5D16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F86D6-FE91-5E86-204B-5A5F79B2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6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E4CA-3CC9-2E04-8B92-98211DB6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96DB9-104C-BFD5-4EFE-EF132E60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3FC50-A178-A308-19B0-2AE5321B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AA6A-A5AD-F1FC-ACE9-831B0BF3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6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5344F-2760-2649-6D04-4F755E46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BA78F7-3350-815E-EB58-0DF24A81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CAD2A-8621-49BD-E2A9-1E60A1D2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0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8708-ACF5-CFCA-E6EE-BF76978B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46A5-C3A5-B402-F1BD-5F6B73D1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B346E-7182-18E7-8387-4E0C70B18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4FAB7-4FF1-F4F0-88BC-7E3C42AB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67B5E-51D3-12F3-BB70-ECD5FF23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B50D2-BFE4-C750-D0B2-71A1049B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05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4F26-9EC6-9B5F-52BD-9DF23892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AA4D1-AB9F-9401-6D93-2F361D7AB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7697B-0A3C-CDB5-1BCF-075173E70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CB70E-997B-C971-8999-3058CB8B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BA130-F985-41E5-DD4A-3151A89D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B5427-0E81-AC21-6342-188CFAF8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0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8F9D-140F-16AA-F8E7-40887FE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8E632-F389-3946-7D4E-BB90FEFC5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284C-C501-0AC5-3A29-E06F6804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43915-8DB4-A2BC-4AA6-A3BA580B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D25E-539C-E43E-1BA6-E123712A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91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CB014-430B-CFAB-F50D-111B8ED2A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C572B-F3D0-8E54-EF3C-A3E39C558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4FDD-9AAD-B07C-A681-EC5823D6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9D67C-E5FE-BE19-95D4-4A0F2093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6B35-AA1C-D5F5-DBE6-26006A00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37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08450-DE75-A74B-E302-9210D81F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13944-D3C5-E756-325D-79FDA6E28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70A01-23D5-4643-E2B9-D22794F06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71E54-14B9-4ED7-99B6-752F206DD4F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7ADCC-5662-ADAB-E63E-09652576B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0674-669D-FA98-A8FD-95CAF6BDA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50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CD36B-CA7E-7CC9-616F-256B2EA599C9}"/>
              </a:ext>
            </a:extLst>
          </p:cNvPr>
          <p:cNvSpPr txBox="1">
            <a:spLocks/>
          </p:cNvSpPr>
          <p:nvPr/>
        </p:nvSpPr>
        <p:spPr>
          <a:xfrm>
            <a:off x="838200" y="6433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SMARTPREMIUM : PREDICTING INSURANCE COSTS WITH MACHINE LEARNING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1AB514-739E-5DFC-1054-F5B674686408}"/>
              </a:ext>
            </a:extLst>
          </p:cNvPr>
          <p:cNvSpPr txBox="1">
            <a:spLocks/>
          </p:cNvSpPr>
          <p:nvPr/>
        </p:nvSpPr>
        <p:spPr>
          <a:xfrm>
            <a:off x="696798" y="21461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3587202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F71C-D3CD-AD44-BE4C-8E968E23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5" y="36512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99B80-95B5-8701-113B-CA1027409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9" y="1637089"/>
            <a:ext cx="4110088" cy="435133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 Cleaning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Exploratory Data Analysis  (EDA)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Feature Engineering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Model Training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Deployment (Streamlit)</a:t>
            </a:r>
          </a:p>
        </p:txBody>
      </p:sp>
    </p:spTree>
    <p:extLst>
      <p:ext uri="{BB962C8B-B14F-4D97-AF65-F5344CB8AC3E}">
        <p14:creationId xmlns:p14="http://schemas.microsoft.com/office/powerpoint/2010/main" val="134070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5F90-A07B-EAB7-F0AD-1003695D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21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DATASET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D3A502-9CDB-CC2A-D279-B31A4CFE1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630027"/>
              </p:ext>
            </p:extLst>
          </p:nvPr>
        </p:nvGraphicFramePr>
        <p:xfrm>
          <a:off x="1003852" y="1047318"/>
          <a:ext cx="10491350" cy="4480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480950">
                  <a:extLst>
                    <a:ext uri="{9D8B030D-6E8A-4147-A177-3AD203B41FA5}">
                      <a16:colId xmlns:a16="http://schemas.microsoft.com/office/drawing/2014/main" val="10716519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036284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2801126"/>
                    </a:ext>
                  </a:extLst>
                </a:gridCol>
              </a:tblGrid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Column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Non-Null Count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309015"/>
                  </a:ext>
                </a:extLst>
              </a:tr>
              <a:tr h="117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Age, Gender, Education Level, Location, Policy Type, Smoking Status, Exercise Frequency, Property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1,200,000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Complete categorical &amp; demographic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324430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Annual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1,155,051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28030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Dependents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1,090,328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658064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Occupation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841,925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High missing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399812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1,125,924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992438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Previous Claims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835,971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254998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Credit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1,062,118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75937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dtype: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📅 Date stored as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209505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Premium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dtype: 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</a:t>
                      </a:r>
                      <a:r>
                        <a:rPr lang="en-IN" b="1" dirty="0"/>
                        <a:t>Target variable for prediction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1066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13B341-D439-9A34-F737-7389CCE63FBF}"/>
              </a:ext>
            </a:extLst>
          </p:cNvPr>
          <p:cNvSpPr txBox="1"/>
          <p:nvPr/>
        </p:nvSpPr>
        <p:spPr>
          <a:xfrm>
            <a:off x="3104168" y="5707930"/>
            <a:ext cx="6266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Dataset contains </a:t>
            </a:r>
            <a:r>
              <a:rPr lang="en-US" b="1" dirty="0"/>
              <a:t>1.2 million records</a:t>
            </a:r>
            <a:r>
              <a:rPr lang="en-US" dirty="0"/>
              <a:t> with </a:t>
            </a:r>
            <a:r>
              <a:rPr lang="en-US" b="1" dirty="0"/>
              <a:t>21 features</a:t>
            </a:r>
            <a:br>
              <a:rPr lang="en-US" dirty="0"/>
            </a:br>
            <a:r>
              <a:rPr lang="en-US" dirty="0"/>
              <a:t>• Missing values handled during </a:t>
            </a:r>
            <a:r>
              <a:rPr lang="en-US" b="1" dirty="0"/>
              <a:t>data cleaning &amp; preprocessing</a:t>
            </a:r>
            <a:br>
              <a:rPr lang="en-US" dirty="0"/>
            </a:br>
            <a:r>
              <a:rPr lang="en-US" dirty="0"/>
              <a:t>• Target variable: </a:t>
            </a:r>
            <a:r>
              <a:rPr lang="en-US" b="1" dirty="0">
                <a:solidFill>
                  <a:srgbClr val="FF0000"/>
                </a:solidFill>
              </a:rPr>
              <a:t>Premium Amount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98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C888-7D79-2BC1-909A-A5DC10FA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CREATED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741C66-C154-8C85-EDBB-61EF817762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721932"/>
              </p:ext>
            </p:extLst>
          </p:nvPr>
        </p:nvGraphicFramePr>
        <p:xfrm>
          <a:off x="838200" y="1350486"/>
          <a:ext cx="10515600" cy="4663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549857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21593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90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Numerical feature (missing values handled)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25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Annual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Income indicator (missing values handled)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0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Dependents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Numerical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59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risk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60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Previous Claims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Claim history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98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Vehicle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of vehicle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40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Credit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reliability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91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Insurance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72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Policy 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 &amp; Month extracted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49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Categorical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Encoded (Gender, Occupation, Location, Policy Type,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73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Premium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🎯 </a:t>
                      </a:r>
                      <a:r>
                        <a:rPr lang="en-IN" b="1" dirty="0"/>
                        <a:t>Target variable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25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46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F4C0-AECE-C7BF-13FC-44CE8C3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811" y="365443"/>
            <a:ext cx="10515600" cy="70953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– NUMERICAL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161D66-3FFB-6F53-3543-676E3076A4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46" y="1351794"/>
            <a:ext cx="3545264" cy="3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8F0804E-425E-6A36-D5DC-8904CC8E2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861" y="1422845"/>
            <a:ext cx="4185501" cy="3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3E430E3-F22C-D9FF-D24A-96B33DA0B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113" y="1436633"/>
            <a:ext cx="3798953" cy="308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7CF5CA2-B7DA-F3AF-E338-62368F961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676" y="4709467"/>
            <a:ext cx="79240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Amount is right-skewed with outliers.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is uniformly distributed.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is evenly spread across customers.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Numerical features show reasonable distributions with skewness 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outliers present in Premium Amount, which were handled during preprocessing.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5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B7E9-489C-7B4D-119E-CA13B59F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CATEGORICAL </a:t>
            </a:r>
            <a:endParaRPr lang="en-IN" sz="3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3CF3B4-7B93-9828-4C03-083942A02C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" y="1489432"/>
            <a:ext cx="3983199" cy="315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A8DB4F3-ED19-3CF7-D78A-2B1A955F3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068" y="1593743"/>
            <a:ext cx="3805532" cy="312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98B3F5F-0B54-D153-5463-2AA9810E0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41" y="1593743"/>
            <a:ext cx="3676454" cy="294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4AC9567-5E06-E0DF-7E55-9135BF304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766" y="11136927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2E3F46D-75BD-9E5E-2AE5-2A9DEC5B6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776" y="4580700"/>
            <a:ext cx="73597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almost balanced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types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evenly distributed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Smoking status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major class imbalance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encoding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Categorical features are well balanced with no significant class imbalance,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ensuring unbiased model training.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61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F920-7DF0-494F-A9B8-ECD4127C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– NUMERICAL vs TARGET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FC3B010-68D4-441A-5B2B-36A3DC6319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1" y="1468873"/>
            <a:ext cx="3733015" cy="33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EEB14B0-F029-BFD6-9A20-712BACBA8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136" y="1468873"/>
            <a:ext cx="4044099" cy="329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4452DCE-55F5-517C-0CB2-5667C5FC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502" y="1595216"/>
            <a:ext cx="3855563" cy="316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5AF8AED-44D1-7F3E-FF16-F9C30ADD9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1205" y="4759337"/>
            <a:ext cx="964886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relationship between age and premium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shows no strong linear trend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varies with number of previous claims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Among numerical variables, Previous Claims has the strongest relationship with Premium Amount,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while Age and Credit Score show minimal impact.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9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1BB1-5ED8-8C3D-CCFC-2DBD8F41B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492" y="318110"/>
            <a:ext cx="11237536" cy="46493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– CATEGORICAL  vs TARGET</a:t>
            </a:r>
            <a:endParaRPr lang="en-IN" sz="2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BC73147-044B-6F64-5583-A676E0759C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60" y="1200964"/>
            <a:ext cx="5047498" cy="311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3B1101F0-A23C-FB1E-9987-68EBB351F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797" y="1200964"/>
            <a:ext cx="5257800" cy="324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C2A593C-9D9E-BFE6-5517-CDCDC0E4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247" y="4737437"/>
            <a:ext cx="5484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amount varies across different policy types”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Smokers generally show higher premium variability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outliers indicates high-risk customers”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2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7536-AC1A-B5FD-2830-63A472A2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089"/>
            <a:ext cx="11067854" cy="530420"/>
          </a:xfrm>
        </p:spPr>
        <p:txBody>
          <a:bodyPr>
            <a:normAutofit fontScale="90000"/>
          </a:bodyPr>
          <a:lstStyle/>
          <a:p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CORELATION HEATMAP OF NUMERIC FEATURES 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3409BF-C87D-3209-9AEF-2249323627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006" y="1268029"/>
            <a:ext cx="7277493" cy="356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3498A2D-0CA8-4609-7FDE-7AFC5461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192" y="4989807"/>
            <a:ext cx="7075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correlation between numerical variables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features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to moderate correlation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 Claims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noticeable correlation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Amount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strong multicollinearity observed</a:t>
            </a:r>
          </a:p>
        </p:txBody>
      </p:sp>
    </p:spTree>
    <p:extLst>
      <p:ext uri="{BB962C8B-B14F-4D97-AF65-F5344CB8AC3E}">
        <p14:creationId xmlns:p14="http://schemas.microsoft.com/office/powerpoint/2010/main" val="107351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10840F-B41D-1A83-79DD-2A54B708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87" y="1170197"/>
            <a:ext cx="10515600" cy="119972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PREPOSSING &amp; FEATURE ENGINEERING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D1CCAA0-8F73-F6E3-4C96-E40598F6E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269" y="2551837"/>
            <a:ext cx="781079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(Numerical)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(Categorical)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encoded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(tree-based compatible)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feature transformed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timestamp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(80%) and Testing (20%)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standardized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 saved to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58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9E69C2-A055-A3DD-9F1A-2B376F217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689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COMPARSION – ACTUAL VS PREDICTED PREMIUM</a:t>
            </a: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5FCBAE-A074-7D9A-AA6F-CFAFF9779A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30" y="989814"/>
            <a:ext cx="4673683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8A1163-1A3F-917C-DFA7-F051A4FD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37" y="1044018"/>
            <a:ext cx="5251311" cy="3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BE55F8-5FFA-2AC4-FFE2-46B8111F0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23637"/>
              </p:ext>
            </p:extLst>
          </p:nvPr>
        </p:nvGraphicFramePr>
        <p:xfrm>
          <a:off x="1006575" y="4289605"/>
          <a:ext cx="4673683" cy="24688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54707">
                  <a:extLst>
                    <a:ext uri="{9D8B030D-6E8A-4147-A177-3AD203B41FA5}">
                      <a16:colId xmlns:a16="http://schemas.microsoft.com/office/drawing/2014/main" val="351424507"/>
                    </a:ext>
                  </a:extLst>
                </a:gridCol>
                <a:gridCol w="1082134">
                  <a:extLst>
                    <a:ext uri="{9D8B030D-6E8A-4147-A177-3AD203B41FA5}">
                      <a16:colId xmlns:a16="http://schemas.microsoft.com/office/drawing/2014/main" val="2921555493"/>
                    </a:ext>
                  </a:extLst>
                </a:gridCol>
                <a:gridCol w="1168421">
                  <a:extLst>
                    <a:ext uri="{9D8B030D-6E8A-4147-A177-3AD203B41FA5}">
                      <a16:colId xmlns:a16="http://schemas.microsoft.com/office/drawing/2014/main" val="4220304166"/>
                    </a:ext>
                  </a:extLst>
                </a:gridCol>
                <a:gridCol w="1168421">
                  <a:extLst>
                    <a:ext uri="{9D8B030D-6E8A-4147-A177-3AD203B41FA5}">
                      <a16:colId xmlns:a16="http://schemas.microsoft.com/office/drawing/2014/main" val="2465360673"/>
                    </a:ext>
                  </a:extLst>
                </a:gridCol>
              </a:tblGrid>
              <a:tr h="5892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Model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RMSE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R²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83438"/>
                  </a:ext>
                </a:extLst>
              </a:tr>
              <a:tr h="841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Linear Regression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665.57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865.14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68476"/>
                  </a:ext>
                </a:extLst>
              </a:tr>
              <a:tr h="841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Decision Tree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902.75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1239.95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-1.05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4724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B428618-BEA4-3789-AB21-D04100AC2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743" y="4577994"/>
            <a:ext cx="5580117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error and near-zero R²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R² (overfitting)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plots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deviations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due to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weak feature–target relationship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056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3284-2882-1DD3-EF3F-B2DD14004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518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COMPARSION – ACTUAL VS PREDICTED PREMIUM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DF39379-24A2-5518-352A-C2D4D5F2E5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52885"/>
            <a:ext cx="4343409" cy="36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DDC68A1-3ABC-076F-3B7D-B80512C4C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517" y="808093"/>
            <a:ext cx="4524375" cy="36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8AEE95-4872-6F1C-D435-9D26C3CA5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251037"/>
              </p:ext>
            </p:extLst>
          </p:nvPr>
        </p:nvGraphicFramePr>
        <p:xfrm>
          <a:off x="467139" y="4484334"/>
          <a:ext cx="5628860" cy="21945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405037">
                  <a:extLst>
                    <a:ext uri="{9D8B030D-6E8A-4147-A177-3AD203B41FA5}">
                      <a16:colId xmlns:a16="http://schemas.microsoft.com/office/drawing/2014/main" val="351424507"/>
                    </a:ext>
                  </a:extLst>
                </a:gridCol>
                <a:gridCol w="1407941">
                  <a:extLst>
                    <a:ext uri="{9D8B030D-6E8A-4147-A177-3AD203B41FA5}">
                      <a16:colId xmlns:a16="http://schemas.microsoft.com/office/drawing/2014/main" val="2921555493"/>
                    </a:ext>
                  </a:extLst>
                </a:gridCol>
                <a:gridCol w="1407941">
                  <a:extLst>
                    <a:ext uri="{9D8B030D-6E8A-4147-A177-3AD203B41FA5}">
                      <a16:colId xmlns:a16="http://schemas.microsoft.com/office/drawing/2014/main" val="4220304166"/>
                    </a:ext>
                  </a:extLst>
                </a:gridCol>
                <a:gridCol w="1407941">
                  <a:extLst>
                    <a:ext uri="{9D8B030D-6E8A-4147-A177-3AD203B41FA5}">
                      <a16:colId xmlns:a16="http://schemas.microsoft.com/office/drawing/2014/main" val="2465360673"/>
                    </a:ext>
                  </a:extLst>
                </a:gridCol>
              </a:tblGrid>
              <a:tr h="555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Model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RMSE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R²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83438"/>
                  </a:ext>
                </a:extLst>
              </a:tr>
              <a:tr h="793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Random Tree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664.23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867.90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-0.00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68476"/>
                  </a:ext>
                </a:extLst>
              </a:tr>
              <a:tr h="555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648.07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850.65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47243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49F867A6-3EA4-39DF-F3A6-F83565C6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555" y="4981449"/>
            <a:ext cx="58662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improves error compared to Decision Tree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 achieves the lowest MAE and RMSE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 shows the best R² score among all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prediction accuracy is still limited</a:t>
            </a:r>
          </a:p>
        </p:txBody>
      </p:sp>
    </p:spTree>
    <p:extLst>
      <p:ext uri="{BB962C8B-B14F-4D97-AF65-F5344CB8AC3E}">
        <p14:creationId xmlns:p14="http://schemas.microsoft.com/office/powerpoint/2010/main" val="114744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F428-BA29-F59B-D1DD-5070905B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709"/>
            <a:ext cx="10515600" cy="66854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COMPARSION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4A889D-4E23-B6B4-B8B3-67090D1906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2" y="874644"/>
            <a:ext cx="4946374" cy="361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D2428AC-21ED-D424-3FBD-6E9D0CF08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636" y="874643"/>
            <a:ext cx="5045762" cy="361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17556F-166D-2314-2D99-50F7F558F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13708"/>
              </p:ext>
            </p:extLst>
          </p:nvPr>
        </p:nvGraphicFramePr>
        <p:xfrm>
          <a:off x="2244037" y="489709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10459083"/>
                    </a:ext>
                  </a:extLst>
                </a:gridCol>
                <a:gridCol w="2035310">
                  <a:extLst>
                    <a:ext uri="{9D8B030D-6E8A-4147-A177-3AD203B41FA5}">
                      <a16:colId xmlns:a16="http://schemas.microsoft.com/office/drawing/2014/main" val="2564821235"/>
                    </a:ext>
                  </a:extLst>
                </a:gridCol>
                <a:gridCol w="2028690">
                  <a:extLst>
                    <a:ext uri="{9D8B030D-6E8A-4147-A177-3AD203B41FA5}">
                      <a16:colId xmlns:a16="http://schemas.microsoft.com/office/drawing/2014/main" val="2970946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871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R2_Score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12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665.571787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865.137766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0.002481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4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902.746650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1239.946497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-1.049069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31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664.232369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867.898382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-0.003895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7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648.070613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850.647416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0.035616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534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29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1011FC-C31F-0BA0-28C3-20ED131D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19" y="952884"/>
            <a:ext cx="10515600" cy="688423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PERFORMANCE(XGBOOST PIPELINE)</a:t>
            </a:r>
            <a:br>
              <a:rPr lang="en-IN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EDCDA0-FA60-4225-D916-9A6BCA3B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887589"/>
              </p:ext>
            </p:extLst>
          </p:nvPr>
        </p:nvGraphicFramePr>
        <p:xfrm>
          <a:off x="4174781" y="1872140"/>
          <a:ext cx="3107635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94543">
                  <a:extLst>
                    <a:ext uri="{9D8B030D-6E8A-4147-A177-3AD203B41FA5}">
                      <a16:colId xmlns:a16="http://schemas.microsoft.com/office/drawing/2014/main" val="1084257787"/>
                    </a:ext>
                  </a:extLst>
                </a:gridCol>
                <a:gridCol w="1613092">
                  <a:extLst>
                    <a:ext uri="{9D8B030D-6E8A-4147-A177-3AD203B41FA5}">
                      <a16:colId xmlns:a16="http://schemas.microsoft.com/office/drawing/2014/main" val="4039737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20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647.51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769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847.54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84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064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1C6CC7-1536-7461-E8A6-5249A3B1B695}"/>
              </a:ext>
            </a:extLst>
          </p:cNvPr>
          <p:cNvSpPr txBox="1"/>
          <p:nvPr/>
        </p:nvSpPr>
        <p:spPr>
          <a:xfrm>
            <a:off x="2155509" y="3751170"/>
            <a:ext cx="8834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SAVING &amp; MODEL DEPLOYMENT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27E50C-A14B-1AA3-AE3D-4B05F5C0F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445" y="4797610"/>
            <a:ext cx="44678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ML pipeline saved using Joblib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preprocessing + XGBoost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 future predictions &amp; deployment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0DBCC-F3B5-7448-88C3-78DBFB6B59AF}"/>
              </a:ext>
            </a:extLst>
          </p:cNvPr>
          <p:cNvSpPr txBox="1"/>
          <p:nvPr/>
        </p:nvSpPr>
        <p:spPr>
          <a:xfrm>
            <a:off x="4045986" y="572094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File: </a:t>
            </a:r>
            <a:r>
              <a:rPr lang="en-IN" dirty="0" err="1">
                <a:solidFill>
                  <a:srgbClr val="C00000"/>
                </a:solidFill>
              </a:rPr>
              <a:t>smartpremium_pipeline.pkl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75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B1EADCA-BDF0-05FD-3E22-6EA06BCE3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8972" y="-20073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 USING STREAMLIT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93BC7-FFA8-B804-784D-B317CFF7F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98" y="1654216"/>
            <a:ext cx="5211002" cy="36747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515211-AC1E-475A-1B65-DD8DDA26F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980" y="5580897"/>
            <a:ext cx="54232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ML pipeline deployed using Streamlit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User-friendly web interface for data input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Real-time insurance premium prediction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accessed locally via </a:t>
            </a:r>
            <a:r>
              <a:rPr lang="en-US" altLang="en-US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http://localhost:8501</a:t>
            </a: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9764D-7B9D-4A09-C784-8A94A34A75EA}"/>
              </a:ext>
            </a:extLst>
          </p:cNvPr>
          <p:cNvSpPr txBox="1"/>
          <p:nvPr/>
        </p:nvSpPr>
        <p:spPr>
          <a:xfrm>
            <a:off x="3885372" y="958656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STREAMLIT UI SCREENSHOT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7EEE68-3510-3A4D-3B15-20FC1294C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620" y="1654215"/>
            <a:ext cx="5314535" cy="36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1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FF2D-2CFE-509F-315B-A1CE8631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4" y="1021107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01BB94-6C96-A277-C0AE-4CC8E3029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174" y="2828835"/>
            <a:ext cx="80393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ML-based insurance premium prediction system implemented.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preprocessing, XGBoost pipeline, and Streamlit UI.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accurate and real-time premium estimation.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 includes model tuning and scalable deployment.</a:t>
            </a:r>
          </a:p>
        </p:txBody>
      </p:sp>
    </p:spTree>
    <p:extLst>
      <p:ext uri="{BB962C8B-B14F-4D97-AF65-F5344CB8AC3E}">
        <p14:creationId xmlns:p14="http://schemas.microsoft.com/office/powerpoint/2010/main" val="263296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795</Words>
  <Application>Microsoft Office PowerPoint</Application>
  <PresentationFormat>Widescreen</PresentationFormat>
  <Paragraphs>203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WORK FLOW</vt:lpstr>
      <vt:lpstr>SUMMARY OF THE DATASET </vt:lpstr>
      <vt:lpstr>FEATURES CREATED</vt:lpstr>
      <vt:lpstr>UNIVARIATE – NUMERICAL</vt:lpstr>
      <vt:lpstr>UNIVARIATE – CATEGORICAL </vt:lpstr>
      <vt:lpstr>BIVARIATE – NUMERICAL vs TARGET</vt:lpstr>
      <vt:lpstr>BIVARIATE – CATEGORICAL  vs TARGET</vt:lpstr>
      <vt:lpstr>MULTIVARIATE ANALYSIS – CORELATION HEATMAP OF NUMERIC FEATURES  </vt:lpstr>
      <vt:lpstr>DATA PREPOSSING &amp; FEATURE ENGINEERING </vt:lpstr>
      <vt:lpstr>MODEL COMPARSION – ACTUAL VS PREDICTED PREMIUM </vt:lpstr>
      <vt:lpstr>MODEL COMPARSION – ACTUAL VS PREDICTED PREMIUM </vt:lpstr>
      <vt:lpstr>MODEL COMPARSION</vt:lpstr>
      <vt:lpstr>MODEL PERFORMANCE(XGBOOST PIPELINE) </vt:lpstr>
      <vt:lpstr>      MODEL DEPLOYMENT USING STREAMLIT</vt:lpstr>
      <vt:lpstr>                          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16</cp:revision>
  <dcterms:created xsi:type="dcterms:W3CDTF">2026-01-05T07:32:53Z</dcterms:created>
  <dcterms:modified xsi:type="dcterms:W3CDTF">2026-01-10T06:50:37Z</dcterms:modified>
</cp:coreProperties>
</file>